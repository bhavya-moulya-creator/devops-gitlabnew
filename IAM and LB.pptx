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9" r:id="rId8"/>
    <p:sldId id="261" r:id="rId9"/>
    <p:sldId id="272" r:id="rId10"/>
    <p:sldId id="263" r:id="rId11"/>
    <p:sldId id="271" r:id="rId12"/>
    <p:sldId id="267" r:id="rId13"/>
    <p:sldId id="264" r:id="rId14"/>
    <p:sldId id="266" r:id="rId15"/>
    <p:sldId id="268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700770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00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28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00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77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3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979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39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16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07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06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022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898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994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12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902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88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harpenSoften amount="1000"/>
                    </a14:imgEffect>
                    <a14:imgEffect>
                      <a14:brightnessContrast bright="18000" contrast="9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880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2146" y="1489841"/>
            <a:ext cx="7543800" cy="169479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Ec2, IAM and Load Balancers</a:t>
            </a:r>
            <a:endParaRPr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311" y="2829909"/>
            <a:ext cx="7012503" cy="1565109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B</a:t>
            </a:r>
            <a:r>
              <a:rPr dirty="0"/>
              <a:t>y</a:t>
            </a:r>
            <a:r>
              <a:rPr lang="en-US" dirty="0"/>
              <a:t> </a:t>
            </a:r>
            <a:r>
              <a:rPr lang="en-US" dirty="0" err="1"/>
              <a:t>harsha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77107"/>
          </a:xfrm>
        </p:spPr>
        <p:txBody>
          <a:bodyPr/>
          <a:lstStyle/>
          <a:p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2201008"/>
            <a:ext cx="7704667" cy="3332816"/>
          </a:xfrm>
        </p:spPr>
        <p:txBody>
          <a:bodyPr anchor="t"/>
          <a:lstStyle/>
          <a:p>
            <a:r>
              <a:rPr dirty="0"/>
              <a:t>Introduction to </a:t>
            </a:r>
            <a:r>
              <a:rPr lang="en-US" dirty="0"/>
              <a:t>EC2, </a:t>
            </a:r>
            <a:r>
              <a:rPr dirty="0"/>
              <a:t>IAM</a:t>
            </a:r>
            <a:r>
              <a:rPr lang="en-US" dirty="0"/>
              <a:t>, </a:t>
            </a:r>
            <a:r>
              <a:rPr dirty="0"/>
              <a:t>Load Balancers</a:t>
            </a:r>
            <a:r>
              <a:rPr lang="en-US" dirty="0"/>
              <a:t>, SNS</a:t>
            </a:r>
            <a:endParaRPr dirty="0"/>
          </a:p>
          <a:p>
            <a:r>
              <a:rPr dirty="0"/>
              <a:t>Why IAM and Load Balancing </a:t>
            </a:r>
            <a:r>
              <a:rPr lang="en-US" dirty="0"/>
              <a:t>in AWS</a:t>
            </a:r>
            <a:endParaRPr dirty="0"/>
          </a:p>
          <a:p>
            <a:r>
              <a:rPr dirty="0"/>
              <a:t>Real-World Case Study</a:t>
            </a:r>
          </a:p>
          <a:p>
            <a:r>
              <a:rPr dirty="0"/>
              <a:t>Best Practices</a:t>
            </a:r>
          </a:p>
          <a:p>
            <a:r>
              <a:rPr dirty="0"/>
              <a:t>Conclusion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What is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EC2</a:t>
            </a:r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560685"/>
            <a:ext cx="7704667" cy="3332816"/>
          </a:xfrm>
        </p:spPr>
        <p:txBody>
          <a:bodyPr/>
          <a:lstStyle/>
          <a:p>
            <a:r>
              <a:rPr lang="en-US" dirty="0"/>
              <a:t>Provides on-demand, scalable computing capacity in the AWS Cloud.</a:t>
            </a:r>
          </a:p>
          <a:p>
            <a:r>
              <a:rPr lang="en-US" dirty="0"/>
              <a:t>Allows users to run applications on virtual machines.</a:t>
            </a:r>
          </a:p>
          <a:p>
            <a:pPr marL="0" indent="0">
              <a:buNone/>
            </a:pPr>
            <a:r>
              <a:rPr lang="en-US" b="1" dirty="0"/>
              <a:t>Features</a:t>
            </a:r>
            <a:r>
              <a:rPr b="1" dirty="0"/>
              <a:t>: </a:t>
            </a:r>
            <a:r>
              <a:rPr lang="en-US" dirty="0"/>
              <a:t>Secured, Flexible, Customizable, Pay-as-you-go</a:t>
            </a:r>
          </a:p>
          <a:p>
            <a:pPr marL="0" indent="0">
              <a:buNone/>
            </a:pPr>
            <a:r>
              <a:rPr lang="en-US" b="1" dirty="0"/>
              <a:t>Uses:</a:t>
            </a:r>
            <a:r>
              <a:rPr lang="en-US" dirty="0"/>
              <a:t> Web hosting, Application deployment, High-performance computing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FA9E0-0DB3-194A-280B-C09DFCFAC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38081-2A64-CE14-1B40-0069C256E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What is IAM?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FB5EC-19A9-B4BF-9C10-0D71EA3A3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2" y="1560685"/>
            <a:ext cx="7704667" cy="3332816"/>
          </a:xfrm>
        </p:spPr>
        <p:txBody>
          <a:bodyPr/>
          <a:lstStyle/>
          <a:p>
            <a:r>
              <a:rPr lang="en-US" dirty="0"/>
              <a:t>Helps to securely control access to AWS resources.</a:t>
            </a:r>
          </a:p>
          <a:p>
            <a:r>
              <a:rPr lang="en-US" dirty="0"/>
              <a:t>provides the infrastructure necessary to control authentication and authorization.</a:t>
            </a:r>
          </a:p>
          <a:p>
            <a:r>
              <a:rPr dirty="0"/>
              <a:t>Common tools: AWS IAM, Azure AD, Okta</a:t>
            </a:r>
          </a:p>
        </p:txBody>
      </p:sp>
    </p:spTree>
    <p:extLst>
      <p:ext uri="{BB962C8B-B14F-4D97-AF65-F5344CB8AC3E}">
        <p14:creationId xmlns:p14="http://schemas.microsoft.com/office/powerpoint/2010/main" val="1480167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Why IAM?</a:t>
            </a:r>
            <a:endParaRPr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878724"/>
            <a:ext cx="7704667" cy="3332816"/>
          </a:xfrm>
        </p:spPr>
        <p:txBody>
          <a:bodyPr>
            <a:normAutofit/>
          </a:bodyPr>
          <a:lstStyle/>
          <a:p>
            <a:r>
              <a:rPr lang="en-US" dirty="0"/>
              <a:t>Authentication identifies who the user is.</a:t>
            </a:r>
          </a:p>
          <a:p>
            <a:r>
              <a:rPr lang="en-US" dirty="0"/>
              <a:t>Authorization determines what resources the user can access.</a:t>
            </a:r>
          </a:p>
          <a:p>
            <a:r>
              <a:rPr lang="en-US" dirty="0"/>
              <a:t>User Management involves organizing users into roles, groups, and applying access policies.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792013"/>
          </a:xfrm>
        </p:spPr>
        <p:txBody>
          <a:bodyPr/>
          <a:lstStyle/>
          <a:p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What is a Load Balancer?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3078" y="2249214"/>
            <a:ext cx="7704667" cy="333281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Load balancing is the method of distributing network traffic equally across a pool.</a:t>
            </a:r>
            <a:endParaRPr dirty="0"/>
          </a:p>
          <a:p>
            <a:pPr marL="0" indent="0">
              <a:buNone/>
            </a:pPr>
            <a:r>
              <a:rPr lang="en-US" b="1" dirty="0"/>
              <a:t>Advantages</a:t>
            </a:r>
            <a:r>
              <a:rPr b="1" dirty="0"/>
              <a:t>:</a:t>
            </a:r>
          </a:p>
          <a:p>
            <a:r>
              <a:rPr dirty="0"/>
              <a:t>High availability</a:t>
            </a:r>
          </a:p>
          <a:p>
            <a:r>
              <a:rPr dirty="0"/>
              <a:t>Scalability</a:t>
            </a:r>
          </a:p>
          <a:p>
            <a:r>
              <a:rPr lang="en-US" dirty="0"/>
              <a:t>Secured</a:t>
            </a:r>
          </a:p>
          <a:p>
            <a:r>
              <a:rPr lang="en-US" dirty="0"/>
              <a:t>High performance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73235-C023-A018-364A-11A8993B9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How Load balancer works?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F3781D-58C6-0AA2-C576-859587EABD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3790" y="2667000"/>
            <a:ext cx="6841882" cy="3332163"/>
          </a:xfrm>
          <a:effectLst>
            <a:outerShdw blurRad="50800" dist="50800" dir="5400000" algn="ctr" rotWithShape="0">
              <a:schemeClr val="bg2"/>
            </a:outerShdw>
          </a:effectLst>
        </p:spPr>
      </p:pic>
    </p:spTree>
    <p:extLst>
      <p:ext uri="{BB962C8B-B14F-4D97-AF65-F5344CB8AC3E}">
        <p14:creationId xmlns:p14="http://schemas.microsoft.com/office/powerpoint/2010/main" val="2060699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594944"/>
          </a:xfrm>
        </p:spPr>
        <p:txBody>
          <a:bodyPr/>
          <a:lstStyle/>
          <a:p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Types of Load Balancers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1188" y="2052145"/>
            <a:ext cx="7704667" cy="3332816"/>
          </a:xfrm>
        </p:spPr>
        <p:txBody>
          <a:bodyPr anchor="t"/>
          <a:lstStyle/>
          <a:p>
            <a:r>
              <a:rPr lang="en-US" dirty="0"/>
              <a:t>Application Load balancing </a:t>
            </a:r>
            <a:r>
              <a:rPr lang="en-US" sz="1800" dirty="0"/>
              <a:t>(Layer 7 , HTTP, HTTPS)</a:t>
            </a:r>
          </a:p>
          <a:p>
            <a:r>
              <a:rPr lang="en-US" dirty="0"/>
              <a:t>Network Load balancing </a:t>
            </a:r>
            <a:r>
              <a:rPr lang="en-US" sz="1800" dirty="0"/>
              <a:t>(Layer 4, TCP/UDP)</a:t>
            </a:r>
          </a:p>
          <a:p>
            <a:r>
              <a:rPr lang="en-US" dirty="0"/>
              <a:t>Gateway Load balancing </a:t>
            </a:r>
            <a:r>
              <a:rPr lang="en-US" sz="1800" dirty="0"/>
              <a:t>(deploy, scale, and manage virtual appliances, such as firewalls)</a:t>
            </a:r>
          </a:p>
          <a:p>
            <a:r>
              <a:rPr lang="en-US" dirty="0"/>
              <a:t>Classic Load balancing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5120B-D270-BD14-634E-0E21ABE8B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3F118-24E5-9010-113E-9BEA2E26E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594944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What is SNS?</a:t>
            </a:r>
            <a:endParaRPr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EAA8-9FEC-E1F0-A608-EC05D109D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188" y="2052145"/>
            <a:ext cx="7704667" cy="3332816"/>
          </a:xfrm>
        </p:spPr>
        <p:txBody>
          <a:bodyPr anchor="t"/>
          <a:lstStyle/>
          <a:p>
            <a:r>
              <a:rPr lang="en-US" dirty="0"/>
              <a:t>Provides</a:t>
            </a:r>
            <a:r>
              <a:rPr lang="en-US" sz="1800" dirty="0"/>
              <a:t> </a:t>
            </a:r>
            <a:r>
              <a:rPr lang="en-US" dirty="0"/>
              <a:t>message delivery from publishers (producers) to subscribers (consumers).</a:t>
            </a:r>
          </a:p>
          <a:p>
            <a:r>
              <a:rPr lang="en-US" dirty="0"/>
              <a:t>publishers send messages to a topic, which acts as a communication channel.</a:t>
            </a:r>
          </a:p>
          <a:p>
            <a:r>
              <a:rPr lang="en-US" dirty="0"/>
              <a:t>We can Subscribe through Email/message for services which we are using</a:t>
            </a:r>
          </a:p>
        </p:txBody>
      </p:sp>
    </p:spTree>
    <p:extLst>
      <p:ext uri="{BB962C8B-B14F-4D97-AF65-F5344CB8AC3E}">
        <p14:creationId xmlns:p14="http://schemas.microsoft.com/office/powerpoint/2010/main" val="990075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50427"/>
          </a:xfrm>
        </p:spPr>
        <p:txBody>
          <a:bodyPr/>
          <a:lstStyle/>
          <a:p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Case Study –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Ec2 (Printo)</a:t>
            </a:r>
            <a:endParaRPr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8849" y="1963313"/>
            <a:ext cx="7704667" cy="3332816"/>
          </a:xfrm>
        </p:spPr>
        <p:txBody>
          <a:bodyPr anchor="t">
            <a:normAutofit/>
          </a:bodyPr>
          <a:lstStyle/>
          <a:p>
            <a:r>
              <a:rPr lang="en-US" b="1" dirty="0"/>
              <a:t>Challenge:</a:t>
            </a:r>
            <a:r>
              <a:rPr lang="en-US" dirty="0"/>
              <a:t> An E-commerce startup has experienced rapid growth in customer base and website traffic. Delivering and tracking the good and services became challenge.</a:t>
            </a:r>
          </a:p>
          <a:p>
            <a:r>
              <a:rPr lang="en-US" b="1" dirty="0"/>
              <a:t>Solution: </a:t>
            </a:r>
            <a:r>
              <a:rPr lang="en-US" dirty="0"/>
              <a:t>Added more servers as per requirement, used Load balancers and Auto-Scaling services and AWS Cloud Watch for monitoring.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06E15-111A-5F4B-4AA0-CA833090D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A8844-178E-4A98-2C1B-4719110A5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450427"/>
          </a:xfrm>
        </p:spPr>
        <p:txBody>
          <a:bodyPr/>
          <a:lstStyle/>
          <a:p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Case Study –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IAM (Infosys)</a:t>
            </a:r>
            <a:endParaRPr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D3D9B-A945-2B5C-4941-E86E09E98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8849" y="1963313"/>
            <a:ext cx="7704667" cy="3332816"/>
          </a:xfrm>
        </p:spPr>
        <p:txBody>
          <a:bodyPr>
            <a:normAutofit/>
          </a:bodyPr>
          <a:lstStyle/>
          <a:p>
            <a:r>
              <a:rPr lang="en-US" b="1" dirty="0"/>
              <a:t>Challenge:</a:t>
            </a:r>
            <a:r>
              <a:rPr lang="en-US" dirty="0"/>
              <a:t> A leading multinational consumer goods company faced high costs and security risks due to manual, error-prone Identity and Access Management.</a:t>
            </a:r>
          </a:p>
          <a:p>
            <a:r>
              <a:rPr lang="en-US" b="1" dirty="0"/>
              <a:t>Solution: </a:t>
            </a:r>
            <a:r>
              <a:rPr lang="en-US" dirty="0"/>
              <a:t>Implemented IAM for access control for people, process, technology and established a governance framework.</a:t>
            </a:r>
          </a:p>
          <a:p>
            <a:r>
              <a:rPr lang="en-US" dirty="0"/>
              <a:t>Implemented Single Sign-on (SSO) solution, MFA by integrating business application using cloud.</a:t>
            </a:r>
          </a:p>
        </p:txBody>
      </p:sp>
    </p:spTree>
    <p:extLst>
      <p:ext uri="{BB962C8B-B14F-4D97-AF65-F5344CB8AC3E}">
        <p14:creationId xmlns:p14="http://schemas.microsoft.com/office/powerpoint/2010/main" val="1312849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A5BB9-B861-7C12-2D51-DE6259C07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541E7-82A0-DE63-6F2F-7CAABA12B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340068"/>
          </a:xfrm>
        </p:spPr>
        <p:txBody>
          <a:bodyPr/>
          <a:lstStyle/>
          <a:p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Case Study –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Load balancing (Dream 11)</a:t>
            </a:r>
            <a:endParaRPr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5DCD1-BD41-6CE7-758C-00F5EE574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2077916"/>
            <a:ext cx="7704667" cy="333281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Issue</a:t>
            </a:r>
            <a:r>
              <a:rPr b="1" dirty="0"/>
              <a:t>:</a:t>
            </a:r>
            <a:r>
              <a:rPr lang="en-US" b="1" dirty="0"/>
              <a:t> </a:t>
            </a:r>
            <a:r>
              <a:rPr lang="en-US" dirty="0"/>
              <a:t>It’s an Online gaming platform, faced extreme and  unpredictable traffic surges due to its nature as a fantasy sports.</a:t>
            </a:r>
          </a:p>
          <a:p>
            <a:r>
              <a:rPr lang="en-US" b="1" dirty="0"/>
              <a:t>Challenges: </a:t>
            </a:r>
          </a:p>
          <a:p>
            <a:pPr lvl="1"/>
            <a:r>
              <a:rPr lang="en-US" dirty="0"/>
              <a:t>Unpredictable traffic spikes</a:t>
            </a:r>
          </a:p>
          <a:p>
            <a:pPr lvl="1"/>
            <a:r>
              <a:rPr lang="en-US" dirty="0"/>
              <a:t>Performance drops</a:t>
            </a:r>
          </a:p>
          <a:p>
            <a:pPr lvl="1"/>
            <a:r>
              <a:rPr lang="en-US" dirty="0"/>
              <a:t>Manual scaling challenges</a:t>
            </a:r>
            <a:endParaRPr dirty="0"/>
          </a:p>
          <a:p>
            <a:r>
              <a:rPr b="1" dirty="0"/>
              <a:t>Solution:</a:t>
            </a:r>
            <a:r>
              <a:rPr lang="en-US" b="1" dirty="0"/>
              <a:t> </a:t>
            </a:r>
            <a:r>
              <a:rPr lang="en-US" dirty="0"/>
              <a:t>Deployed 100+ ELB’s to distribute traffic, Auto-Scaling, Load testing and Monitoring.</a:t>
            </a:r>
          </a:p>
        </p:txBody>
      </p:sp>
    </p:spTree>
    <p:extLst>
      <p:ext uri="{BB962C8B-B14F-4D97-AF65-F5344CB8AC3E}">
        <p14:creationId xmlns:p14="http://schemas.microsoft.com/office/powerpoint/2010/main" val="4018442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552902"/>
          </a:xfrm>
        </p:spPr>
        <p:txBody>
          <a:bodyPr/>
          <a:lstStyle/>
          <a:p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10103"/>
            <a:ext cx="7704667" cy="333281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b="1" dirty="0"/>
              <a:t>IAM:</a:t>
            </a:r>
            <a:endParaRPr lang="en-US" b="1" dirty="0"/>
          </a:p>
          <a:p>
            <a:r>
              <a:rPr lang="en-US" dirty="0"/>
              <a:t>Principle of Least Privilege</a:t>
            </a:r>
          </a:p>
          <a:p>
            <a:r>
              <a:rPr dirty="0"/>
              <a:t>Use of MFA</a:t>
            </a:r>
          </a:p>
          <a:p>
            <a:r>
              <a:rPr dirty="0"/>
              <a:t>Role-based access control (RBAC)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Load Balancers:</a:t>
            </a:r>
          </a:p>
          <a:p>
            <a:r>
              <a:rPr dirty="0"/>
              <a:t>Health checks</a:t>
            </a:r>
          </a:p>
          <a:p>
            <a:r>
              <a:rPr dirty="0"/>
              <a:t>Auto-scaling integration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11B54-1FAE-AA01-523E-4835A7243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4ED4-9575-8C56-F15C-BDF748225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657" y="2438400"/>
            <a:ext cx="7704667" cy="1981200"/>
          </a:xfrm>
        </p:spPr>
        <p:txBody>
          <a:bodyPr/>
          <a:lstStyle/>
          <a:p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THANK YOU!!</a:t>
            </a:r>
            <a:endParaRPr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74938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1007</TotalTime>
  <Words>483</Words>
  <Application>Microsoft Office PowerPoint</Application>
  <PresentationFormat>On-screen Show (4:3)</PresentationFormat>
  <Paragraphs>64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Corbel</vt:lpstr>
      <vt:lpstr>Parallax</vt:lpstr>
      <vt:lpstr>Ec2, IAM and Load Balancers</vt:lpstr>
      <vt:lpstr>Agenda</vt:lpstr>
      <vt:lpstr>What is EC2?</vt:lpstr>
      <vt:lpstr>What is IAM?</vt:lpstr>
      <vt:lpstr>Why IAM?</vt:lpstr>
      <vt:lpstr>What is a Load Balancer?</vt:lpstr>
      <vt:lpstr>How Load balancer works?</vt:lpstr>
      <vt:lpstr>Types of Load Balancers</vt:lpstr>
      <vt:lpstr>What is SNS?</vt:lpstr>
      <vt:lpstr>Case Study – Ec2 (Printo)</vt:lpstr>
      <vt:lpstr>Case Study – IAM (Infosys)</vt:lpstr>
      <vt:lpstr>Case Study – Load balancing (Dream 11)</vt:lpstr>
      <vt:lpstr>Best Practices</vt:lpstr>
      <vt:lpstr>Q&amp;A</vt:lpstr>
      <vt:lpstr>THANK YOU!!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Deeksha Jayanna</cp:lastModifiedBy>
  <cp:revision>59</cp:revision>
  <dcterms:created xsi:type="dcterms:W3CDTF">2013-01-27T09:14:16Z</dcterms:created>
  <dcterms:modified xsi:type="dcterms:W3CDTF">2025-09-02T07:58:34Z</dcterms:modified>
  <cp:category/>
</cp:coreProperties>
</file>